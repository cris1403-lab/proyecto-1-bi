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2" r:id="rId7"/>
    <p:sldId id="261"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740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qué NO elegimos Hogares (A): el 20% de hogares top que concentra el 53% del gasto ya recibe campaña en un 98% de los casos (mismo sesgo que encontramos) — "concentrarse más en ellos" ya está pasando. Si preguntan por qué NO Categorías (B): el crecimiento de GROCERY y KIOSK-GAS informa qué categorías priorizar dentro del piloto, pero no es una acción independiente — la decisión real sigue siendo sobre la mecánica de campañas. Elegimos Mecánica (C) porque ahí hay evidencia accionable y medible: sesgo de selección + baja redención frente al costo del descuento genérico.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corte del día 398: es la mediana de inicio de campaña por hogar, así que para la mitad de los hogares con campaña, su propia campaña ya había empezado antes de esa fecha — parte de los $5.73 podría ya incluir efecto de campaña, no solo comportamiento previo. Aun así, la brecha (5x) es demasiado grande para explicarse solo por eso. El método más riguroso sería usar una ventana de 28 días antes de la primera campaña de cada hogar (trabajo futuro si hay tiempo).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5C40"/>
        </a:solidFill>
        <a:effectLst/>
      </p:bgPr>
    </p:bg>
    <p:spTree>
      <p:nvGrpSpPr>
        <p:cNvPr id="1" name=""/>
        <p:cNvGrpSpPr/>
        <p:nvPr/>
      </p:nvGrpSpPr>
      <p:grpSpPr>
        <a:xfrm>
          <a:off x="0" y="0"/>
          <a:ext cx="0" cy="0"/>
          <a:chOff x="0" y="0"/>
          <a:chExt cx="0" cy="0"/>
        </a:xfrm>
      </p:grpSpPr>
      <p:sp>
        <p:nvSpPr>
          <p:cNvPr id="2" name="Text 0"/>
          <p:cNvSpPr/>
          <p:nvPr/>
        </p:nvSpPr>
        <p:spPr>
          <a:xfrm>
            <a:off x="812800" y="1850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2C94C"/>
                </a:solidFill>
                <a:latin typeface="Arial" pitchFamily="34" charset="0"/>
                <a:ea typeface="Arial" pitchFamily="34" charset="-122"/>
                <a:cs typeface="Arial" pitchFamily="34" charset="-120"/>
              </a:rPr>
              <a:t>PROYECTO 1 — BUSINESS INTELLIGENCE · RECOMENDACIÓN</a:t>
            </a:r>
            <a:endParaRPr lang="en-US" sz="1200" dirty="0"/>
          </a:p>
        </p:txBody>
      </p:sp>
      <p:sp>
        <p:nvSpPr>
          <p:cNvPr id="3" name="Text 1"/>
          <p:cNvSpPr/>
          <p:nvPr/>
        </p:nvSpPr>
        <p:spPr>
          <a:xfrm>
            <a:off x="812800" y="2300000"/>
            <a:ext cx="10566400" cy="2100000"/>
          </a:xfrm>
          <a:prstGeom prst="rect">
            <a:avLst/>
          </a:prstGeom>
          <a:noFill/>
          <a:ln/>
        </p:spPr>
        <p:txBody>
          <a:bodyPr wrap="square" lIns="0" tIns="0" rIns="0" bIns="0" rtlCol="0" anchor="t">
            <a:normAutofit fontScale="85000" lnSpcReduction="10000"/>
          </a:bodyPr>
          <a:lstStyle/>
          <a:p>
            <a:pPr marL="0" indent="0" algn="ctr">
              <a:lnSpc>
                <a:spcPts val="4300"/>
              </a:lnSpc>
              <a:buNone/>
            </a:pPr>
            <a:r>
              <a:rPr lang="en-US" sz="3400" dirty="0">
                <a:solidFill>
                  <a:srgbClr val="FFFFFF"/>
                </a:solidFill>
                <a:latin typeface="Georgia" pitchFamily="34" charset="0"/>
                <a:ea typeface="Georgia" pitchFamily="34" charset="-122"/>
                <a:cs typeface="Georgia" pitchFamily="34" charset="-120"/>
              </a:rPr>
              <a:t>Recomendamos </a:t>
            </a:r>
            <a:r>
              <a:rPr lang="en-US" sz="3400" b="1" dirty="0">
                <a:solidFill>
                  <a:srgbClr val="F2C94C"/>
                </a:solidFill>
                <a:latin typeface="Georgia" pitchFamily="34" charset="0"/>
                <a:ea typeface="Georgia" pitchFamily="34" charset="-122"/>
                <a:cs typeface="Georgia" pitchFamily="34" charset="-120"/>
              </a:rPr>
              <a:t>congelar la expansión de campañas y cupones dirigidos</a:t>
            </a:r>
            <a:r>
              <a:rPr lang="en-US" sz="3400" dirty="0">
                <a:solidFill>
                  <a:srgbClr val="FFFFFF"/>
                </a:solidFill>
                <a:latin typeface="Georgia" pitchFamily="34" charset="0"/>
                <a:ea typeface="Georgia" pitchFamily="34" charset="-122"/>
                <a:cs typeface="Georgia" pitchFamily="34" charset="-120"/>
              </a:rPr>
              <a:t>, y usar los $50K hoy destinados a cupones en un </a:t>
            </a:r>
            <a:r>
              <a:rPr lang="en-US" sz="3400" b="1" dirty="0">
                <a:solidFill>
                  <a:srgbClr val="F2C94C"/>
                </a:solidFill>
                <a:latin typeface="Georgia" pitchFamily="34" charset="0"/>
                <a:ea typeface="Georgia" pitchFamily="34" charset="-122"/>
                <a:cs typeface="Georgia" pitchFamily="34" charset="-120"/>
              </a:rPr>
              <a:t>piloto con grupo de control</a:t>
            </a:r>
            <a:r>
              <a:rPr lang="en-US" sz="3400" dirty="0">
                <a:solidFill>
                  <a:srgbClr val="FFFFFF"/>
                </a:solidFill>
                <a:latin typeface="Georgia" pitchFamily="34" charset="0"/>
                <a:ea typeface="Georgia" pitchFamily="34" charset="-122"/>
                <a:cs typeface="Georgia" pitchFamily="34" charset="-120"/>
              </a:rPr>
              <a:t> en hogares de gasto medio</a:t>
            </a:r>
            <a:endParaRPr lang="en-US" sz="3400" dirty="0"/>
          </a:p>
        </p:txBody>
      </p:sp>
      <p:sp>
        <p:nvSpPr>
          <p:cNvPr id="6" name="Text 4"/>
          <p:cNvSpPr/>
          <p:nvPr/>
        </p:nvSpPr>
        <p:spPr>
          <a:xfrm>
            <a:off x="812800" y="5969000"/>
            <a:ext cx="10883392"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A8CDBB"/>
                </a:solidFill>
                <a:latin typeface="Arial" pitchFamily="34" charset="0"/>
                <a:ea typeface="Arial" pitchFamily="34" charset="-122"/>
                <a:cs typeface="Arial" pitchFamily="34" charset="-120"/>
              </a:rPr>
              <a:t>CRISTINA PINEDA Y OLGA MENEGAZZO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Chart"/>
          <p:cNvPicPr>
            <a:picLocks noChangeAspect="1"/>
          </p:cNvPicPr>
          <p:nvPr/>
        </p:nvPicPr>
        <p:blipFill>
          <a:blip r:embed="rId3"/>
          <a:srcRect/>
          <a:stretch/>
        </p:blipFill>
        <p:spPr>
          <a:xfrm>
            <a:off x="812800" y="746720"/>
            <a:ext cx="279400" cy="279400"/>
          </a:xfrm>
          <a:prstGeom prst="rect">
            <a:avLst/>
          </a:prstGeom>
        </p:spPr>
      </p:pic>
      <p:sp>
        <p:nvSpPr>
          <p:cNvPr id="3" name="Text 0"/>
          <p:cNvSpPr/>
          <p:nvPr/>
        </p:nvSpPr>
        <p:spPr>
          <a:xfrm>
            <a:off x="1219200" y="711200"/>
            <a:ext cx="7688460" cy="375841"/>
          </a:xfrm>
          <a:prstGeom prst="rect">
            <a:avLst/>
          </a:prstGeom>
          <a:noFill/>
          <a:ln/>
        </p:spPr>
        <p:txBody>
          <a:bodyPr wrap="square" lIns="0" tIns="0" rIns="0" bIns="0" rtlCol="0" anchor="t">
            <a:normAutofit/>
          </a:bodyPr>
          <a:lstStyle/>
          <a:p>
            <a:pPr marL="0" indent="0" algn="l">
              <a:lnSpc>
                <a:spcPts val="2760"/>
              </a:lnSpc>
              <a:buNone/>
            </a:pPr>
            <a:r>
              <a:rPr lang="en-US" sz="2400" dirty="0">
                <a:solidFill>
                  <a:srgbClr val="155C40"/>
                </a:solidFill>
                <a:latin typeface="Georgia" pitchFamily="34" charset="0"/>
                <a:ea typeface="Georgia" pitchFamily="34" charset="-122"/>
                <a:cs typeface="Georgia" pitchFamily="34" charset="-120"/>
              </a:rPr>
              <a:t>El </a:t>
            </a:r>
            <a:r>
              <a:rPr lang="en-US" sz="2400" b="1" dirty="0">
                <a:solidFill>
                  <a:srgbClr val="155C40"/>
                </a:solidFill>
                <a:latin typeface="Georgia" pitchFamily="34" charset="0"/>
                <a:ea typeface="Georgia" pitchFamily="34" charset="-122"/>
                <a:cs typeface="Georgia" pitchFamily="34" charset="-120"/>
              </a:rPr>
              <a:t>20%</a:t>
            </a:r>
            <a:r>
              <a:rPr lang="en-US" sz="2400" dirty="0">
                <a:solidFill>
                  <a:srgbClr val="155C40"/>
                </a:solidFill>
                <a:latin typeface="Georgia" pitchFamily="34" charset="0"/>
                <a:ea typeface="Georgia" pitchFamily="34" charset="-122"/>
                <a:cs typeface="Georgia" pitchFamily="34" charset="-120"/>
              </a:rPr>
              <a:t> de los hogares genera más de la mitad del gasto</a:t>
            </a:r>
            <a:endParaRPr lang="en-US" sz="2400" dirty="0"/>
          </a:p>
        </p:txBody>
      </p:sp>
      <p:sp>
        <p:nvSpPr>
          <p:cNvPr id="4" name="Shape 1"/>
          <p:cNvSpPr/>
          <p:nvPr/>
        </p:nvSpPr>
        <p:spPr>
          <a:xfrm>
            <a:off x="812800" y="1984970"/>
            <a:ext cx="5976739" cy="3517900"/>
          </a:xfrm>
          <a:prstGeom prst="roundRect">
            <a:avLst>
              <a:gd name="adj" fmla="val 3610"/>
            </a:avLst>
          </a:prstGeom>
          <a:solidFill>
            <a:srgbClr val="F6FAF7"/>
          </a:solidFill>
          <a:ln/>
        </p:spPr>
        <p:txBody>
          <a:bodyPr/>
          <a:lstStyle/>
          <a:p>
            <a:endParaRPr lang="es-GT"/>
          </a:p>
        </p:txBody>
      </p:sp>
      <p:pic>
        <p:nvPicPr>
          <p:cNvPr id="5" name="Image 1" descr="Curva de Pareto: porcentaje acumulado de gasto por porcentaje de hogares"/>
          <p:cNvPicPr>
            <a:picLocks noChangeAspect="1"/>
          </p:cNvPicPr>
          <p:nvPr/>
        </p:nvPicPr>
        <p:blipFill>
          <a:blip r:embed="rId4"/>
          <a:srcRect/>
          <a:stretch/>
        </p:blipFill>
        <p:spPr>
          <a:xfrm>
            <a:off x="1292920" y="2188170"/>
            <a:ext cx="5016500" cy="3111500"/>
          </a:xfrm>
          <a:prstGeom prst="rect">
            <a:avLst/>
          </a:prstGeom>
        </p:spPr>
      </p:pic>
      <p:sp>
        <p:nvSpPr>
          <p:cNvPr id="6" name="Text 2"/>
          <p:cNvSpPr/>
          <p:nvPr/>
        </p:nvSpPr>
        <p:spPr>
          <a:xfrm>
            <a:off x="7094339" y="2877145"/>
            <a:ext cx="4413407" cy="609600"/>
          </a:xfrm>
          <a:prstGeom prst="rect">
            <a:avLst/>
          </a:prstGeom>
          <a:noFill/>
          <a:ln/>
        </p:spPr>
        <p:txBody>
          <a:bodyPr wrap="square" lIns="0" tIns="0" rIns="0" bIns="0" rtlCol="0" anchor="t">
            <a:normAutofit/>
          </a:bodyPr>
          <a:lstStyle/>
          <a:p>
            <a:pPr marL="0" indent="0" algn="l">
              <a:lnSpc>
                <a:spcPts val="4600"/>
              </a:lnSpc>
              <a:buNone/>
            </a:pPr>
            <a:r>
              <a:rPr lang="en-US" sz="4600" b="1" dirty="0">
                <a:solidFill>
                  <a:srgbClr val="F2B705"/>
                </a:solidFill>
                <a:latin typeface="Arial" pitchFamily="34" charset="0"/>
                <a:ea typeface="Arial" pitchFamily="34" charset="-122"/>
                <a:cs typeface="Arial" pitchFamily="34" charset="-120"/>
              </a:rPr>
              <a:t>53%</a:t>
            </a:r>
            <a:endParaRPr lang="en-US" sz="4600" dirty="0"/>
          </a:p>
        </p:txBody>
      </p:sp>
      <p:sp>
        <p:nvSpPr>
          <p:cNvPr id="7" name="Text 3"/>
          <p:cNvSpPr/>
          <p:nvPr/>
        </p:nvSpPr>
        <p:spPr>
          <a:xfrm>
            <a:off x="7094339" y="3588345"/>
            <a:ext cx="4413407" cy="50165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2A2A2A"/>
                </a:solidFill>
                <a:latin typeface="Arial" pitchFamily="34" charset="0"/>
                <a:ea typeface="Arial" pitchFamily="34" charset="-122"/>
                <a:cs typeface="Arial" pitchFamily="34" charset="-120"/>
              </a:rPr>
              <a:t>del gasto total viene de solo el </a:t>
            </a:r>
            <a:r>
              <a:rPr lang="en-US" sz="1250" b="1" dirty="0">
                <a:solidFill>
                  <a:srgbClr val="2A2A2A"/>
                </a:solidFill>
                <a:latin typeface="Arial" pitchFamily="34" charset="0"/>
                <a:ea typeface="Arial" pitchFamily="34" charset="-122"/>
                <a:cs typeface="Arial" pitchFamily="34" charset="-120"/>
              </a:rPr>
              <a:t>20% de los hogares</a:t>
            </a:r>
            <a:r>
              <a:rPr lang="en-US" sz="1250" dirty="0">
                <a:solidFill>
                  <a:srgbClr val="2A2A2A"/>
                </a:solidFill>
                <a:latin typeface="Arial" pitchFamily="34" charset="0"/>
                <a:ea typeface="Arial" pitchFamily="34" charset="-122"/>
                <a:cs typeface="Arial" pitchFamily="34" charset="-120"/>
              </a:rPr>
              <a:t> (500 de 2,500).</a:t>
            </a:r>
            <a:endParaRPr lang="en-US" sz="1250" dirty="0"/>
          </a:p>
        </p:txBody>
      </p:sp>
      <p:sp>
        <p:nvSpPr>
          <p:cNvPr id="8" name="Text 4"/>
          <p:cNvSpPr/>
          <p:nvPr/>
        </p:nvSpPr>
        <p:spPr>
          <a:xfrm>
            <a:off x="7094339" y="4191595"/>
            <a:ext cx="4413407" cy="44450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5C6B62"/>
                </a:solidFill>
                <a:latin typeface="Arial" pitchFamily="34" charset="0"/>
                <a:ea typeface="Arial" pitchFamily="34" charset="-122"/>
                <a:cs typeface="Arial" pitchFamily="34" charset="-120"/>
              </a:rPr>
              <a:t>Del top 20%, el </a:t>
            </a:r>
            <a:r>
              <a:rPr lang="en-US" sz="1100" b="1" dirty="0">
                <a:solidFill>
                  <a:srgbClr val="5C6B62"/>
                </a:solidFill>
                <a:latin typeface="Arial" pitchFamily="34" charset="0"/>
                <a:ea typeface="Arial" pitchFamily="34" charset="-122"/>
                <a:cs typeface="Arial" pitchFamily="34" charset="-120"/>
              </a:rPr>
              <a:t>98%</a:t>
            </a:r>
            <a:r>
              <a:rPr lang="en-US" sz="1100" dirty="0">
                <a:solidFill>
                  <a:srgbClr val="5C6B62"/>
                </a:solidFill>
                <a:latin typeface="Arial" pitchFamily="34" charset="0"/>
                <a:ea typeface="Arial" pitchFamily="34" charset="-122"/>
                <a:cs typeface="Arial" pitchFamily="34" charset="-120"/>
              </a:rPr>
              <a:t> ya recibe campaña — no es un segmento nuevo, ya está siendo atendido.</a:t>
            </a:r>
            <a:endParaRPr lang="en-US" sz="1100" dirty="0"/>
          </a:p>
        </p:txBody>
      </p:sp>
      <p:sp>
        <p:nvSpPr>
          <p:cNvPr id="9" name="Shape 5"/>
          <p:cNvSpPr/>
          <p:nvPr/>
        </p:nvSpPr>
        <p:spPr>
          <a:xfrm>
            <a:off x="0" y="6731000"/>
            <a:ext cx="12192000" cy="127000"/>
          </a:xfrm>
          <a:prstGeom prst="rect">
            <a:avLst/>
          </a:prstGeom>
          <a:solidFill>
            <a:srgbClr val="155C40"/>
          </a:solidFill>
          <a:ln/>
        </p:spPr>
        <p:txBody>
          <a:bodyPr/>
          <a:lstStyle/>
          <a:p>
            <a:endParaRPr lang="es-GT"/>
          </a:p>
        </p:txBody>
      </p:sp>
      <p:sp>
        <p:nvSpPr>
          <p:cNvPr id="10" name="Text 6"/>
          <p:cNvSpPr/>
          <p:nvPr/>
        </p:nvSpPr>
        <p:spPr>
          <a:xfrm>
            <a:off x="812800" y="6433840"/>
            <a:ext cx="3875553"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C6B62"/>
                </a:solidFill>
                <a:latin typeface="Arial" pitchFamily="34" charset="0"/>
                <a:ea typeface="Arial" pitchFamily="34" charset="-122"/>
                <a:cs typeface="Arial" pitchFamily="34" charset="-120"/>
              </a:rPr>
              <a:t>Análisis 1 de 5 · Concentración de gasto · n = 2,500 hogares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Chart"/>
          <p:cNvPicPr>
            <a:picLocks noChangeAspect="1"/>
          </p:cNvPicPr>
          <p:nvPr/>
        </p:nvPicPr>
        <p:blipFill>
          <a:blip r:embed="rId3"/>
          <a:srcRect/>
          <a:stretch/>
        </p:blipFill>
        <p:spPr>
          <a:xfrm>
            <a:off x="812800" y="921941"/>
            <a:ext cx="279400" cy="279400"/>
          </a:xfrm>
          <a:prstGeom prst="rect">
            <a:avLst/>
          </a:prstGeom>
        </p:spPr>
      </p:pic>
      <p:sp>
        <p:nvSpPr>
          <p:cNvPr id="3" name="Text 0"/>
          <p:cNvSpPr/>
          <p:nvPr/>
        </p:nvSpPr>
        <p:spPr>
          <a:xfrm>
            <a:off x="1219200" y="711200"/>
            <a:ext cx="10137775" cy="726281"/>
          </a:xfrm>
          <a:prstGeom prst="rect">
            <a:avLst/>
          </a:prstGeom>
          <a:noFill/>
          <a:ln/>
        </p:spPr>
        <p:txBody>
          <a:bodyPr wrap="square" lIns="0" tIns="0" rIns="0" bIns="0" rtlCol="0" anchor="t">
            <a:normAutofit/>
          </a:bodyPr>
          <a:lstStyle/>
          <a:p>
            <a:pPr marL="0" indent="0" algn="l">
              <a:lnSpc>
                <a:spcPts val="2760"/>
              </a:lnSpc>
              <a:buNone/>
            </a:pPr>
            <a:r>
              <a:rPr lang="en-US" sz="2400" b="1" dirty="0">
                <a:solidFill>
                  <a:srgbClr val="155C40"/>
                </a:solidFill>
                <a:latin typeface="Georgia" pitchFamily="34" charset="0"/>
                <a:ea typeface="Georgia" pitchFamily="34" charset="-122"/>
                <a:cs typeface="Georgia" pitchFamily="34" charset="-120"/>
              </a:rPr>
              <a:t>GROCERY</a:t>
            </a:r>
            <a:r>
              <a:rPr lang="en-US" sz="2400" dirty="0">
                <a:solidFill>
                  <a:srgbClr val="155C40"/>
                </a:solidFill>
                <a:latin typeface="Georgia" pitchFamily="34" charset="0"/>
                <a:ea typeface="Georgia" pitchFamily="34" charset="-122"/>
                <a:cs typeface="Georgia" pitchFamily="34" charset="-120"/>
              </a:rPr>
              <a:t> domina el negocio: 4 veces más que el segundo departamento</a:t>
            </a:r>
            <a:endParaRPr lang="en-US" sz="2400" dirty="0"/>
          </a:p>
        </p:txBody>
      </p:sp>
      <p:sp>
        <p:nvSpPr>
          <p:cNvPr id="4" name="Shape 1"/>
          <p:cNvSpPr/>
          <p:nvPr/>
        </p:nvSpPr>
        <p:spPr>
          <a:xfrm>
            <a:off x="812800" y="2160191"/>
            <a:ext cx="5976739" cy="3517900"/>
          </a:xfrm>
          <a:prstGeom prst="roundRect">
            <a:avLst>
              <a:gd name="adj" fmla="val 3610"/>
            </a:avLst>
          </a:prstGeom>
          <a:solidFill>
            <a:srgbClr val="F6FAF7"/>
          </a:solidFill>
          <a:ln/>
        </p:spPr>
        <p:txBody>
          <a:bodyPr/>
          <a:lstStyle/>
          <a:p>
            <a:endParaRPr lang="es-GT"/>
          </a:p>
        </p:txBody>
      </p:sp>
      <p:pic>
        <p:nvPicPr>
          <p:cNvPr id="5" name="Image 1" descr="Ranking de departamentos por ventas totales"/>
          <p:cNvPicPr>
            <a:picLocks noChangeAspect="1"/>
          </p:cNvPicPr>
          <p:nvPr/>
        </p:nvPicPr>
        <p:blipFill>
          <a:blip r:embed="rId4"/>
          <a:srcRect/>
          <a:stretch/>
        </p:blipFill>
        <p:spPr>
          <a:xfrm>
            <a:off x="1292920" y="2363391"/>
            <a:ext cx="5016500" cy="3111500"/>
          </a:xfrm>
          <a:prstGeom prst="rect">
            <a:avLst/>
          </a:prstGeom>
        </p:spPr>
      </p:pic>
      <p:sp>
        <p:nvSpPr>
          <p:cNvPr id="6" name="Text 2"/>
          <p:cNvSpPr/>
          <p:nvPr/>
        </p:nvSpPr>
        <p:spPr>
          <a:xfrm>
            <a:off x="7094339" y="2842816"/>
            <a:ext cx="4413407" cy="609600"/>
          </a:xfrm>
          <a:prstGeom prst="rect">
            <a:avLst/>
          </a:prstGeom>
          <a:noFill/>
          <a:ln/>
        </p:spPr>
        <p:txBody>
          <a:bodyPr wrap="square" lIns="0" tIns="0" rIns="0" bIns="0" rtlCol="0" anchor="t">
            <a:normAutofit/>
          </a:bodyPr>
          <a:lstStyle/>
          <a:p>
            <a:pPr marL="0" indent="0" algn="l">
              <a:lnSpc>
                <a:spcPts val="4600"/>
              </a:lnSpc>
              <a:buNone/>
            </a:pPr>
            <a:r>
              <a:rPr lang="en-US" sz="4600" b="1" dirty="0">
                <a:solidFill>
                  <a:srgbClr val="F2B705"/>
                </a:solidFill>
                <a:latin typeface="Arial" pitchFamily="34" charset="0"/>
                <a:ea typeface="Arial" pitchFamily="34" charset="-122"/>
                <a:cs typeface="Arial" pitchFamily="34" charset="-120"/>
              </a:rPr>
              <a:t>$4.09M</a:t>
            </a:r>
            <a:endParaRPr lang="en-US" sz="4600" dirty="0"/>
          </a:p>
        </p:txBody>
      </p:sp>
      <p:sp>
        <p:nvSpPr>
          <p:cNvPr id="7" name="Text 3"/>
          <p:cNvSpPr/>
          <p:nvPr/>
        </p:nvSpPr>
        <p:spPr>
          <a:xfrm>
            <a:off x="7094339" y="3554016"/>
            <a:ext cx="4413407" cy="50165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2A2A2A"/>
                </a:solidFill>
                <a:latin typeface="Arial" pitchFamily="34" charset="0"/>
                <a:ea typeface="Arial" pitchFamily="34" charset="-122"/>
                <a:cs typeface="Arial" pitchFamily="34" charset="-120"/>
              </a:rPr>
              <a:t>en ventas de </a:t>
            </a:r>
            <a:r>
              <a:rPr lang="en-US" sz="1250" b="1" dirty="0">
                <a:solidFill>
                  <a:srgbClr val="2A2A2A"/>
                </a:solidFill>
                <a:latin typeface="Arial" pitchFamily="34" charset="0"/>
                <a:ea typeface="Arial" pitchFamily="34" charset="-122"/>
                <a:cs typeface="Arial" pitchFamily="34" charset="-120"/>
              </a:rPr>
              <a:t>GROCERY</a:t>
            </a:r>
            <a:r>
              <a:rPr lang="en-US" sz="1250" dirty="0">
                <a:solidFill>
                  <a:srgbClr val="2A2A2A"/>
                </a:solidFill>
                <a:latin typeface="Arial" pitchFamily="34" charset="0"/>
                <a:ea typeface="Arial" pitchFamily="34" charset="-122"/>
                <a:cs typeface="Arial" pitchFamily="34" charset="-120"/>
              </a:rPr>
              <a:t>, contra $1.05M de DRUG GM, el segundo departamento.</a:t>
            </a:r>
            <a:endParaRPr lang="en-US" sz="1250" dirty="0"/>
          </a:p>
        </p:txBody>
      </p:sp>
      <p:sp>
        <p:nvSpPr>
          <p:cNvPr id="8" name="Text 4"/>
          <p:cNvSpPr/>
          <p:nvPr/>
        </p:nvSpPr>
        <p:spPr>
          <a:xfrm>
            <a:off x="7094339" y="4157266"/>
            <a:ext cx="4413407" cy="86360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5C6B62"/>
                </a:solidFill>
                <a:latin typeface="Arial" pitchFamily="34" charset="0"/>
                <a:ea typeface="Arial" pitchFamily="34" charset="-122"/>
                <a:cs typeface="Arial" pitchFamily="34" charset="-120"/>
              </a:rPr>
              <a:t>Crecimiento = ventas segunda mitad del período vs. primera mitad. El piso de $10,000 evita que categorías casi vacías (que pasan de $10 a $40) parezcan "explosivas". Con ese filtro, KIOSK-GAS destaca: +50% sobre una base ya grande.</a:t>
            </a:r>
            <a:endParaRPr lang="en-US" sz="1100" dirty="0"/>
          </a:p>
        </p:txBody>
      </p:sp>
      <p:sp>
        <p:nvSpPr>
          <p:cNvPr id="9" name="Shape 5"/>
          <p:cNvSpPr/>
          <p:nvPr/>
        </p:nvSpPr>
        <p:spPr>
          <a:xfrm>
            <a:off x="0" y="6731000"/>
            <a:ext cx="12192000" cy="127000"/>
          </a:xfrm>
          <a:prstGeom prst="rect">
            <a:avLst/>
          </a:prstGeom>
          <a:solidFill>
            <a:srgbClr val="155C40"/>
          </a:solidFill>
          <a:ln/>
        </p:spPr>
        <p:txBody>
          <a:bodyPr/>
          <a:lstStyle/>
          <a:p>
            <a:endParaRPr lang="es-GT"/>
          </a:p>
        </p:txBody>
      </p:sp>
      <p:sp>
        <p:nvSpPr>
          <p:cNvPr id="10" name="Text 6"/>
          <p:cNvSpPr/>
          <p:nvPr/>
        </p:nvSpPr>
        <p:spPr>
          <a:xfrm>
            <a:off x="812800" y="6433840"/>
            <a:ext cx="2199448"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C6B62"/>
                </a:solidFill>
                <a:latin typeface="Arial" pitchFamily="34" charset="0"/>
                <a:ea typeface="Arial" pitchFamily="34" charset="-122"/>
                <a:cs typeface="Arial" pitchFamily="34" charset="-120"/>
              </a:rPr>
              <a:t>Análisis 2 de 5 · Mix de categorías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Chart"/>
          <p:cNvPicPr>
            <a:picLocks noChangeAspect="1"/>
          </p:cNvPicPr>
          <p:nvPr/>
        </p:nvPicPr>
        <p:blipFill>
          <a:blip r:embed="rId3"/>
          <a:srcRect/>
          <a:stretch/>
        </p:blipFill>
        <p:spPr>
          <a:xfrm>
            <a:off x="812800" y="732135"/>
            <a:ext cx="279400" cy="279400"/>
          </a:xfrm>
          <a:prstGeom prst="rect">
            <a:avLst/>
          </a:prstGeom>
        </p:spPr>
      </p:pic>
      <p:sp>
        <p:nvSpPr>
          <p:cNvPr id="3" name="Text 0"/>
          <p:cNvSpPr/>
          <p:nvPr/>
        </p:nvSpPr>
        <p:spPr>
          <a:xfrm>
            <a:off x="1219200" y="711200"/>
            <a:ext cx="10300981" cy="34667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155C40"/>
                </a:solidFill>
                <a:latin typeface="Georgia" pitchFamily="34" charset="0"/>
                <a:ea typeface="Georgia" pitchFamily="34" charset="-122"/>
                <a:cs typeface="Georgia" pitchFamily="34" charset="-120"/>
              </a:rPr>
              <a:t>El descuento genérico de góndola cuesta </a:t>
            </a:r>
            <a:r>
              <a:rPr lang="en-US" sz="2200" b="1" dirty="0">
                <a:solidFill>
                  <a:srgbClr val="155C40"/>
                </a:solidFill>
                <a:latin typeface="Georgia" pitchFamily="34" charset="0"/>
                <a:ea typeface="Georgia" pitchFamily="34" charset="-122"/>
                <a:cs typeface="Georgia" pitchFamily="34" charset="-120"/>
              </a:rPr>
              <a:t>28 veces</a:t>
            </a:r>
            <a:r>
              <a:rPr lang="en-US" sz="2200" dirty="0">
                <a:solidFill>
                  <a:srgbClr val="155C40"/>
                </a:solidFill>
                <a:latin typeface="Georgia" pitchFamily="34" charset="0"/>
                <a:ea typeface="Georgia" pitchFamily="34" charset="-122"/>
                <a:cs typeface="Georgia" pitchFamily="34" charset="-120"/>
              </a:rPr>
              <a:t> más que los cupones dirigidos</a:t>
            </a:r>
            <a:endParaRPr lang="en-US" sz="2200" dirty="0"/>
          </a:p>
        </p:txBody>
      </p:sp>
      <p:sp>
        <p:nvSpPr>
          <p:cNvPr id="4" name="Shape 1"/>
          <p:cNvSpPr/>
          <p:nvPr/>
        </p:nvSpPr>
        <p:spPr>
          <a:xfrm>
            <a:off x="812800" y="1938635"/>
            <a:ext cx="5976739" cy="3581400"/>
          </a:xfrm>
          <a:prstGeom prst="roundRect">
            <a:avLst>
              <a:gd name="adj" fmla="val 3546"/>
            </a:avLst>
          </a:prstGeom>
          <a:solidFill>
            <a:srgbClr val="F6FAF7"/>
          </a:solidFill>
          <a:ln/>
        </p:spPr>
        <p:txBody>
          <a:bodyPr/>
          <a:lstStyle/>
          <a:p>
            <a:endParaRPr lang="es-GT"/>
          </a:p>
        </p:txBody>
      </p:sp>
      <p:pic>
        <p:nvPicPr>
          <p:cNvPr id="5" name="Image 1" descr="Costo total en descuento: cupones dirigidos vs. descuento general de góndola"/>
          <p:cNvPicPr>
            <a:picLocks noChangeAspect="1"/>
          </p:cNvPicPr>
          <p:nvPr/>
        </p:nvPicPr>
        <p:blipFill>
          <a:blip r:embed="rId4"/>
          <a:srcRect/>
          <a:stretch/>
        </p:blipFill>
        <p:spPr>
          <a:xfrm>
            <a:off x="1261170" y="2141835"/>
            <a:ext cx="5080000" cy="3175000"/>
          </a:xfrm>
          <a:prstGeom prst="rect">
            <a:avLst/>
          </a:prstGeom>
        </p:spPr>
      </p:pic>
      <p:sp>
        <p:nvSpPr>
          <p:cNvPr id="6" name="Text 2"/>
          <p:cNvSpPr/>
          <p:nvPr/>
        </p:nvSpPr>
        <p:spPr>
          <a:xfrm>
            <a:off x="7094339" y="2805410"/>
            <a:ext cx="4413407"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2B705"/>
                </a:solidFill>
                <a:latin typeface="Arial" pitchFamily="34" charset="0"/>
                <a:ea typeface="Arial" pitchFamily="34" charset="-122"/>
                <a:cs typeface="Arial" pitchFamily="34" charset="-120"/>
              </a:rPr>
              <a:t>$1.4M</a:t>
            </a:r>
            <a:endParaRPr lang="en-US" sz="4000" dirty="0"/>
          </a:p>
        </p:txBody>
      </p:sp>
      <p:sp>
        <p:nvSpPr>
          <p:cNvPr id="7" name="Text 3"/>
          <p:cNvSpPr/>
          <p:nvPr/>
        </p:nvSpPr>
        <p:spPr>
          <a:xfrm>
            <a:off x="7094339" y="3440410"/>
            <a:ext cx="4413407"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2A2A"/>
                </a:solidFill>
                <a:latin typeface="Arial" pitchFamily="34" charset="0"/>
                <a:ea typeface="Arial" pitchFamily="34" charset="-122"/>
                <a:cs typeface="Arial" pitchFamily="34" charset="-120"/>
              </a:rPr>
              <a:t>en descuento general de góndola, frente a solo </a:t>
            </a:r>
            <a:r>
              <a:rPr lang="en-US" sz="1200" b="1" dirty="0">
                <a:solidFill>
                  <a:srgbClr val="2A2A2A"/>
                </a:solidFill>
                <a:latin typeface="Arial" pitchFamily="34" charset="0"/>
                <a:ea typeface="Arial" pitchFamily="34" charset="-122"/>
                <a:cs typeface="Arial" pitchFamily="34" charset="-120"/>
              </a:rPr>
              <a:t>$50K</a:t>
            </a:r>
            <a:r>
              <a:rPr lang="en-US" sz="1200" dirty="0">
                <a:solidFill>
                  <a:srgbClr val="2A2A2A"/>
                </a:solidFill>
                <a:latin typeface="Arial" pitchFamily="34" charset="0"/>
                <a:ea typeface="Arial" pitchFamily="34" charset="-122"/>
                <a:cs typeface="Arial" pitchFamily="34" charset="-120"/>
              </a:rPr>
              <a:t> en cupones dirigidos por campaña.</a:t>
            </a:r>
            <a:endParaRPr lang="en-US" sz="1200" dirty="0"/>
          </a:p>
        </p:txBody>
      </p:sp>
      <p:sp>
        <p:nvSpPr>
          <p:cNvPr id="8" name="Text 4"/>
          <p:cNvSpPr/>
          <p:nvPr/>
        </p:nvSpPr>
        <p:spPr>
          <a:xfrm>
            <a:off x="7094339" y="4024610"/>
            <a:ext cx="4413407" cy="6540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5C6B62"/>
                </a:solidFill>
                <a:latin typeface="Arial" pitchFamily="34" charset="0"/>
                <a:ea typeface="Arial" pitchFamily="34" charset="-122"/>
                <a:cs typeface="Arial" pitchFamily="34" charset="-120"/>
              </a:rPr>
              <a:t>SEAFOOD-PCKGD tiene el mayor % de descuento (25%). GROCERY, el departamento más grande, es más conservador (17%).</a:t>
            </a:r>
            <a:endParaRPr lang="en-US" sz="1100" dirty="0"/>
          </a:p>
        </p:txBody>
      </p:sp>
      <p:sp>
        <p:nvSpPr>
          <p:cNvPr id="9" name="Shape 5"/>
          <p:cNvSpPr/>
          <p:nvPr/>
        </p:nvSpPr>
        <p:spPr>
          <a:xfrm>
            <a:off x="0" y="6731000"/>
            <a:ext cx="12192000" cy="127000"/>
          </a:xfrm>
          <a:prstGeom prst="rect">
            <a:avLst/>
          </a:prstGeom>
          <a:solidFill>
            <a:srgbClr val="155C40"/>
          </a:solidFill>
          <a:ln/>
        </p:spPr>
        <p:txBody>
          <a:bodyPr/>
          <a:lstStyle/>
          <a:p>
            <a:endParaRPr lang="es-GT"/>
          </a:p>
        </p:txBody>
      </p:sp>
      <p:sp>
        <p:nvSpPr>
          <p:cNvPr id="10" name="Text 6"/>
          <p:cNvSpPr/>
          <p:nvPr/>
        </p:nvSpPr>
        <p:spPr>
          <a:xfrm>
            <a:off x="812800" y="6433840"/>
            <a:ext cx="2375632"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C6B62"/>
                </a:solidFill>
                <a:latin typeface="Arial" pitchFamily="34" charset="0"/>
                <a:ea typeface="Arial" pitchFamily="34" charset="-122"/>
                <a:cs typeface="Arial" pitchFamily="34" charset="-120"/>
              </a:rPr>
              <a:t>Análisis 3 de 5 · Costo del descuento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Warning"/>
          <p:cNvPicPr>
            <a:picLocks noChangeAspect="1"/>
          </p:cNvPicPr>
          <p:nvPr/>
        </p:nvPicPr>
        <p:blipFill>
          <a:blip r:embed="rId3"/>
          <a:srcRect/>
          <a:stretch/>
        </p:blipFill>
        <p:spPr>
          <a:xfrm>
            <a:off x="812800" y="732135"/>
            <a:ext cx="279400" cy="279400"/>
          </a:xfrm>
          <a:prstGeom prst="rect">
            <a:avLst/>
          </a:prstGeom>
        </p:spPr>
      </p:pic>
      <p:sp>
        <p:nvSpPr>
          <p:cNvPr id="3" name="Text 0"/>
          <p:cNvSpPr/>
          <p:nvPr/>
        </p:nvSpPr>
        <p:spPr>
          <a:xfrm>
            <a:off x="1219200" y="711200"/>
            <a:ext cx="8150894" cy="34667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155C40"/>
                </a:solidFill>
                <a:latin typeface="Georgia" pitchFamily="34" charset="0"/>
                <a:ea typeface="Georgia" pitchFamily="34" charset="-122"/>
                <a:cs typeface="Georgia" pitchFamily="34" charset="-120"/>
              </a:rPr>
              <a:t>Los hogares con </a:t>
            </a:r>
            <a:r>
              <a:rPr lang="en-US" sz="2200" b="1" dirty="0">
                <a:solidFill>
                  <a:srgbClr val="155C40"/>
                </a:solidFill>
                <a:latin typeface="Georgia" pitchFamily="34" charset="0"/>
                <a:ea typeface="Georgia" pitchFamily="34" charset="-122"/>
                <a:cs typeface="Georgia" pitchFamily="34" charset="-120"/>
              </a:rPr>
              <a:t>campaña</a:t>
            </a:r>
            <a:r>
              <a:rPr lang="en-US" sz="2200" dirty="0">
                <a:solidFill>
                  <a:srgbClr val="155C40"/>
                </a:solidFill>
                <a:latin typeface="Georgia" pitchFamily="34" charset="0"/>
                <a:ea typeface="Georgia" pitchFamily="34" charset="-122"/>
                <a:cs typeface="Georgia" pitchFamily="34" charset="-120"/>
              </a:rPr>
              <a:t> ya compraban más antes del día 398</a:t>
            </a:r>
            <a:endParaRPr lang="en-US" sz="2200" dirty="0"/>
          </a:p>
        </p:txBody>
      </p:sp>
      <p:sp>
        <p:nvSpPr>
          <p:cNvPr id="4" name="Shape 1"/>
          <p:cNvSpPr/>
          <p:nvPr/>
        </p:nvSpPr>
        <p:spPr>
          <a:xfrm>
            <a:off x="812800" y="1938635"/>
            <a:ext cx="5976739" cy="3581301"/>
          </a:xfrm>
          <a:prstGeom prst="roundRect">
            <a:avLst>
              <a:gd name="adj" fmla="val 3546"/>
            </a:avLst>
          </a:prstGeom>
          <a:solidFill>
            <a:srgbClr val="F6FAF7"/>
          </a:solidFill>
          <a:ln/>
        </p:spPr>
        <p:txBody>
          <a:bodyPr/>
          <a:lstStyle/>
          <a:p>
            <a:endParaRPr lang="es-GT"/>
          </a:p>
        </p:txBody>
      </p:sp>
      <p:pic>
        <p:nvPicPr>
          <p:cNvPr id="5" name="Image 1" descr="Gasto promedio diario antes del día 398, hogares con y sin campaña"/>
          <p:cNvPicPr>
            <a:picLocks noChangeAspect="1"/>
          </p:cNvPicPr>
          <p:nvPr/>
        </p:nvPicPr>
        <p:blipFill>
          <a:blip r:embed="rId4"/>
          <a:srcRect l="-1" r="-1"/>
          <a:stretch/>
        </p:blipFill>
        <p:spPr>
          <a:xfrm>
            <a:off x="1235571" y="2141835"/>
            <a:ext cx="5131098" cy="3174901"/>
          </a:xfrm>
          <a:prstGeom prst="rect">
            <a:avLst/>
          </a:prstGeom>
        </p:spPr>
      </p:pic>
      <p:sp>
        <p:nvSpPr>
          <p:cNvPr id="6" name="Text 2"/>
          <p:cNvSpPr/>
          <p:nvPr/>
        </p:nvSpPr>
        <p:spPr>
          <a:xfrm>
            <a:off x="7094339" y="2601615"/>
            <a:ext cx="4413407"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2B705"/>
                </a:solidFill>
                <a:latin typeface="Arial" pitchFamily="34" charset="0"/>
                <a:ea typeface="Arial" pitchFamily="34" charset="-122"/>
                <a:cs typeface="Arial" pitchFamily="34" charset="-120"/>
              </a:rPr>
              <a:t>5×</a:t>
            </a:r>
            <a:endParaRPr lang="en-US" sz="4400" dirty="0"/>
          </a:p>
        </p:txBody>
      </p:sp>
      <p:sp>
        <p:nvSpPr>
          <p:cNvPr id="7" name="Text 3"/>
          <p:cNvSpPr/>
          <p:nvPr/>
        </p:nvSpPr>
        <p:spPr>
          <a:xfrm>
            <a:off x="7094339" y="3198515"/>
            <a:ext cx="4413407"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2A2A2A"/>
                </a:solidFill>
                <a:latin typeface="Arial" pitchFamily="34" charset="0"/>
                <a:ea typeface="Arial" pitchFamily="34" charset="-122"/>
                <a:cs typeface="Arial" pitchFamily="34" charset="-120"/>
              </a:rPr>
              <a:t>más gasto diario antes del día 398 ($5.73 vs. $1.20) — corte: mediana de inicio de campaña por hogar.</a:t>
            </a:r>
            <a:endParaRPr lang="en-US" sz="1200" dirty="0"/>
          </a:p>
        </p:txBody>
      </p:sp>
      <p:sp>
        <p:nvSpPr>
          <p:cNvPr id="8" name="Text 4"/>
          <p:cNvSpPr/>
          <p:nvPr/>
        </p:nvSpPr>
        <p:spPr>
          <a:xfrm>
            <a:off x="7094339" y="3818235"/>
            <a:ext cx="4413407"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2B705"/>
                </a:solidFill>
                <a:latin typeface="Arial" pitchFamily="34" charset="0"/>
                <a:ea typeface="Arial" pitchFamily="34" charset="-122"/>
                <a:cs typeface="Arial" pitchFamily="34" charset="-120"/>
              </a:rPr>
              <a:t>434</a:t>
            </a:r>
            <a:endParaRPr lang="en-US" sz="4400" dirty="0"/>
          </a:p>
        </p:txBody>
      </p:sp>
      <p:sp>
        <p:nvSpPr>
          <p:cNvPr id="9" name="Text 5"/>
          <p:cNvSpPr/>
          <p:nvPr/>
        </p:nvSpPr>
        <p:spPr>
          <a:xfrm>
            <a:off x="7094339" y="4415135"/>
            <a:ext cx="4413407"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2A2A2A"/>
                </a:solidFill>
                <a:latin typeface="Arial" pitchFamily="34" charset="0"/>
                <a:ea typeface="Arial" pitchFamily="34" charset="-122"/>
                <a:cs typeface="Arial" pitchFamily="34" charset="-120"/>
              </a:rPr>
              <a:t>de los 1,584 hogares con campaña (27.4%) redimieron al menos un cupón.</a:t>
            </a:r>
            <a:endParaRPr lang="en-US" sz="1200" dirty="0"/>
          </a:p>
        </p:txBody>
      </p:sp>
      <p:sp>
        <p:nvSpPr>
          <p:cNvPr id="10" name="Shape 6"/>
          <p:cNvSpPr/>
          <p:nvPr/>
        </p:nvSpPr>
        <p:spPr>
          <a:xfrm>
            <a:off x="0" y="6731000"/>
            <a:ext cx="12192000" cy="127000"/>
          </a:xfrm>
          <a:prstGeom prst="rect">
            <a:avLst/>
          </a:prstGeom>
          <a:solidFill>
            <a:srgbClr val="155C40"/>
          </a:solidFill>
          <a:ln/>
        </p:spPr>
        <p:txBody>
          <a:bodyPr/>
          <a:lstStyle/>
          <a:p>
            <a:endParaRPr lang="es-GT"/>
          </a:p>
        </p:txBody>
      </p:sp>
      <p:sp>
        <p:nvSpPr>
          <p:cNvPr id="11" name="Text 7"/>
          <p:cNvSpPr/>
          <p:nvPr/>
        </p:nvSpPr>
        <p:spPr>
          <a:xfrm>
            <a:off x="812800" y="6433840"/>
            <a:ext cx="1759599"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C6B62"/>
                </a:solidFill>
                <a:latin typeface="Arial" pitchFamily="34" charset="0"/>
                <a:ea typeface="Arial" pitchFamily="34" charset="-122"/>
                <a:cs typeface="Arial" pitchFamily="34" charset="-120"/>
              </a:rPr>
              <a:t>Análisis 4 de 5 · Campañas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Users"/>
          <p:cNvPicPr>
            <a:picLocks noChangeAspect="1"/>
          </p:cNvPicPr>
          <p:nvPr/>
        </p:nvPicPr>
        <p:blipFill>
          <a:blip r:embed="rId3"/>
          <a:srcRect/>
          <a:stretch/>
        </p:blipFill>
        <p:spPr>
          <a:xfrm>
            <a:off x="812800" y="732135"/>
            <a:ext cx="279400" cy="279400"/>
          </a:xfrm>
          <a:prstGeom prst="rect">
            <a:avLst/>
          </a:prstGeom>
        </p:spPr>
      </p:pic>
      <p:sp>
        <p:nvSpPr>
          <p:cNvPr id="3" name="Text 0"/>
          <p:cNvSpPr/>
          <p:nvPr/>
        </p:nvSpPr>
        <p:spPr>
          <a:xfrm>
            <a:off x="1219200" y="711200"/>
            <a:ext cx="7518203" cy="34667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155C40"/>
                </a:solidFill>
                <a:latin typeface="Georgia" pitchFamily="34" charset="0"/>
                <a:ea typeface="Georgia" pitchFamily="34" charset="-122"/>
                <a:cs typeface="Georgia" pitchFamily="34" charset="-120"/>
              </a:rPr>
              <a:t>Los hogares con demografía gastan </a:t>
            </a:r>
            <a:r>
              <a:rPr lang="en-US" sz="2200" b="1" dirty="0">
                <a:solidFill>
                  <a:srgbClr val="155C40"/>
                </a:solidFill>
                <a:latin typeface="Georgia" pitchFamily="34" charset="0"/>
                <a:ea typeface="Georgia" pitchFamily="34" charset="-122"/>
                <a:cs typeface="Georgia" pitchFamily="34" charset="-120"/>
              </a:rPr>
              <a:t>168% más</a:t>
            </a:r>
            <a:r>
              <a:rPr lang="en-US" sz="2200" dirty="0">
                <a:solidFill>
                  <a:srgbClr val="155C40"/>
                </a:solidFill>
                <a:latin typeface="Georgia" pitchFamily="34" charset="0"/>
                <a:ea typeface="Georgia" pitchFamily="34" charset="-122"/>
                <a:cs typeface="Georgia" pitchFamily="34" charset="-120"/>
              </a:rPr>
              <a:t> que el resto</a:t>
            </a:r>
            <a:endParaRPr lang="en-US" sz="2200" dirty="0"/>
          </a:p>
        </p:txBody>
      </p:sp>
      <p:sp>
        <p:nvSpPr>
          <p:cNvPr id="4" name="Shape 1"/>
          <p:cNvSpPr/>
          <p:nvPr/>
        </p:nvSpPr>
        <p:spPr>
          <a:xfrm>
            <a:off x="812800" y="1938635"/>
            <a:ext cx="5976739" cy="3581301"/>
          </a:xfrm>
          <a:prstGeom prst="roundRect">
            <a:avLst>
              <a:gd name="adj" fmla="val 3546"/>
            </a:avLst>
          </a:prstGeom>
          <a:solidFill>
            <a:srgbClr val="F6FAF7"/>
          </a:solidFill>
          <a:ln/>
        </p:spPr>
        <p:txBody>
          <a:bodyPr/>
          <a:lstStyle/>
          <a:p>
            <a:endParaRPr lang="es-GT"/>
          </a:p>
        </p:txBody>
      </p:sp>
      <p:pic>
        <p:nvPicPr>
          <p:cNvPr id="5" name="Image 1" descr="Gasto total promedio por hogar, con y sin datos demográficos"/>
          <p:cNvPicPr>
            <a:picLocks noChangeAspect="1"/>
          </p:cNvPicPr>
          <p:nvPr/>
        </p:nvPicPr>
        <p:blipFill>
          <a:blip r:embed="rId4"/>
          <a:srcRect l="-1" r="-1"/>
          <a:stretch/>
        </p:blipFill>
        <p:spPr>
          <a:xfrm>
            <a:off x="1229916" y="2141835"/>
            <a:ext cx="5142508" cy="3174901"/>
          </a:xfrm>
          <a:prstGeom prst="rect">
            <a:avLst/>
          </a:prstGeom>
        </p:spPr>
      </p:pic>
      <p:sp>
        <p:nvSpPr>
          <p:cNvPr id="6" name="Text 2"/>
          <p:cNvSpPr/>
          <p:nvPr/>
        </p:nvSpPr>
        <p:spPr>
          <a:xfrm>
            <a:off x="7094339" y="2780010"/>
            <a:ext cx="4413407"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2B705"/>
                </a:solidFill>
                <a:latin typeface="Arial" pitchFamily="34" charset="0"/>
                <a:ea typeface="Arial" pitchFamily="34" charset="-122"/>
                <a:cs typeface="Arial" pitchFamily="34" charset="-120"/>
              </a:rPr>
              <a:t>32%</a:t>
            </a:r>
            <a:endParaRPr lang="en-US" sz="4400" dirty="0"/>
          </a:p>
        </p:txBody>
      </p:sp>
      <p:sp>
        <p:nvSpPr>
          <p:cNvPr id="7" name="Text 3"/>
          <p:cNvSpPr/>
          <p:nvPr/>
        </p:nvSpPr>
        <p:spPr>
          <a:xfrm>
            <a:off x="7094339" y="3465810"/>
            <a:ext cx="4413407"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A2A2A"/>
                </a:solidFill>
                <a:latin typeface="Arial" pitchFamily="34" charset="0"/>
                <a:ea typeface="Arial" pitchFamily="34" charset="-122"/>
                <a:cs typeface="Arial" pitchFamily="34" charset="-120"/>
              </a:rPr>
              <a:t>de los hogares tiene datos demográficos (801 de 2,500) — y no son un espejo del resto.</a:t>
            </a:r>
            <a:endParaRPr lang="en-US" sz="1200" dirty="0"/>
          </a:p>
        </p:txBody>
      </p:sp>
      <p:sp>
        <p:nvSpPr>
          <p:cNvPr id="8" name="Text 4"/>
          <p:cNvSpPr/>
          <p:nvPr/>
        </p:nvSpPr>
        <p:spPr>
          <a:xfrm>
            <a:off x="7094339" y="4050010"/>
            <a:ext cx="4413407" cy="654050"/>
          </a:xfrm>
          <a:prstGeom prst="rect">
            <a:avLst/>
          </a:prstGeom>
          <a:noFill/>
          <a:ln/>
        </p:spPr>
        <p:txBody>
          <a:bodyPr wrap="square" lIns="0" tIns="0" rIns="0" bIns="0" rtlCol="0" anchor="t">
            <a:normAutofit/>
          </a:bodyPr>
          <a:lstStyle/>
          <a:p>
            <a:pPr marL="0" indent="0" algn="l">
              <a:lnSpc>
                <a:spcPts val="1650"/>
              </a:lnSpc>
              <a:buNone/>
            </a:pPr>
            <a:r>
              <a:rPr lang="en-US" sz="1100" dirty="0">
                <a:solidFill>
                  <a:srgbClr val="5C6B62"/>
                </a:solidFill>
                <a:latin typeface="Arial" pitchFamily="34" charset="0"/>
                <a:ea typeface="Arial" pitchFamily="34" charset="-122"/>
                <a:cs typeface="Arial" pitchFamily="34" charset="-120"/>
              </a:rPr>
              <a:t>Gastan $5,615 en promedio, contra $2,095 del resto. Cualquier conclusión por edad o ingreso aplica solo a este subconjunto, que gasta más que el hogar típico.</a:t>
            </a:r>
            <a:endParaRPr lang="en-US" sz="1100" dirty="0"/>
          </a:p>
        </p:txBody>
      </p:sp>
      <p:sp>
        <p:nvSpPr>
          <p:cNvPr id="9" name="Shape 5"/>
          <p:cNvSpPr/>
          <p:nvPr/>
        </p:nvSpPr>
        <p:spPr>
          <a:xfrm>
            <a:off x="0" y="6731000"/>
            <a:ext cx="12192000" cy="127000"/>
          </a:xfrm>
          <a:prstGeom prst="rect">
            <a:avLst/>
          </a:prstGeom>
          <a:solidFill>
            <a:srgbClr val="155C40"/>
          </a:solidFill>
          <a:ln/>
        </p:spPr>
        <p:txBody>
          <a:bodyPr/>
          <a:lstStyle/>
          <a:p>
            <a:endParaRPr lang="es-GT"/>
          </a:p>
        </p:txBody>
      </p:sp>
      <p:sp>
        <p:nvSpPr>
          <p:cNvPr id="10" name="Text 6"/>
          <p:cNvSpPr/>
          <p:nvPr/>
        </p:nvSpPr>
        <p:spPr>
          <a:xfrm>
            <a:off x="812800" y="6433840"/>
            <a:ext cx="2671488"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C6B62"/>
                </a:solidFill>
                <a:latin typeface="Arial" pitchFamily="34" charset="0"/>
                <a:ea typeface="Arial" pitchFamily="34" charset="-122"/>
                <a:cs typeface="Arial" pitchFamily="34" charset="-120"/>
              </a:rPr>
              <a:t>Análisis 5 de 5 · Cobertura de demografía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Verified"/>
          <p:cNvPicPr>
            <a:picLocks noChangeAspect="1"/>
          </p:cNvPicPr>
          <p:nvPr/>
        </p:nvPicPr>
        <p:blipFill>
          <a:blip r:embed="rId3"/>
          <a:srcRect/>
          <a:stretch/>
        </p:blipFill>
        <p:spPr>
          <a:xfrm>
            <a:off x="812800" y="835520"/>
            <a:ext cx="279400" cy="279400"/>
          </a:xfrm>
          <a:prstGeom prst="rect">
            <a:avLst/>
          </a:prstGeom>
        </p:spPr>
      </p:pic>
      <p:sp>
        <p:nvSpPr>
          <p:cNvPr id="3" name="Text 0"/>
          <p:cNvSpPr/>
          <p:nvPr/>
        </p:nvSpPr>
        <p:spPr>
          <a:xfrm>
            <a:off x="1219200" y="800000"/>
            <a:ext cx="10160000" cy="375841"/>
          </a:xfrm>
          <a:prstGeom prst="rect">
            <a:avLst/>
          </a:prstGeom>
          <a:noFill/>
          <a:ln/>
        </p:spPr>
        <p:txBody>
          <a:bodyPr wrap="square" lIns="0" tIns="0" rIns="0" bIns="0" rtlCol="0" anchor="t">
            <a:normAutofit/>
          </a:bodyPr>
          <a:lstStyle/>
          <a:p>
            <a:pPr marL="0" indent="0" algn="l">
              <a:lnSpc>
                <a:spcPts val="2760"/>
              </a:lnSpc>
              <a:buNone/>
            </a:pPr>
            <a:r>
              <a:rPr lang="en-US" sz="2400" dirty="0">
                <a:solidFill>
                  <a:srgbClr val="155C40"/>
                </a:solidFill>
                <a:latin typeface="Georgia" pitchFamily="34" charset="0"/>
                <a:ea typeface="Georgia" pitchFamily="34" charset="-122"/>
                <a:cs typeface="Georgia" pitchFamily="34" charset="-120"/>
              </a:rPr>
              <a:t>Por qué NO elegimos Hogares (A) ni Categorías (B)</a:t>
            </a:r>
            <a:endParaRPr lang="en-US" sz="2400" dirty="0"/>
          </a:p>
        </p:txBody>
      </p:sp>
      <p:sp>
        <p:nvSpPr>
          <p:cNvPr id="4" name="Shape 1"/>
          <p:cNvSpPr/>
          <p:nvPr/>
        </p:nvSpPr>
        <p:spPr>
          <a:xfrm>
            <a:off x="812800" y="1400000"/>
            <a:ext cx="5156200" cy="1580000"/>
          </a:xfrm>
          <a:prstGeom prst="roundRect">
            <a:avLst>
              <a:gd name="adj" fmla="val 6926"/>
            </a:avLst>
          </a:prstGeom>
          <a:solidFill>
            <a:srgbClr val="F6FAF7"/>
          </a:solidFill>
          <a:ln/>
        </p:spPr>
        <p:txBody>
          <a:bodyPr/>
          <a:lstStyle/>
          <a:p>
            <a:endParaRPr lang="es-GT"/>
          </a:p>
        </p:txBody>
      </p:sp>
      <p:sp>
        <p:nvSpPr>
          <p:cNvPr id="5" name="Text 2"/>
          <p:cNvSpPr/>
          <p:nvPr/>
        </p:nvSpPr>
        <p:spPr>
          <a:xfrm>
            <a:off x="1066800" y="1620000"/>
            <a:ext cx="4787646" cy="238720"/>
          </a:xfrm>
          <a:prstGeom prst="rect">
            <a:avLst/>
          </a:prstGeom>
          <a:noFill/>
          <a:ln/>
        </p:spPr>
        <p:txBody>
          <a:bodyPr wrap="square" lIns="0" tIns="0" rIns="0" bIns="0" rtlCol="0" anchor="t">
            <a:normAutofit/>
          </a:bodyPr>
          <a:lstStyle/>
          <a:p>
            <a:pPr marL="0" indent="0" algn="l">
              <a:lnSpc>
                <a:spcPts val="1680"/>
              </a:lnSpc>
              <a:buNone/>
            </a:pPr>
            <a:r>
              <a:rPr lang="en-US" sz="1200" b="1" kern="0" spc="25" dirty="0">
                <a:solidFill>
                  <a:srgbClr val="155C40"/>
                </a:solidFill>
                <a:latin typeface="Arial" pitchFamily="34" charset="0"/>
                <a:ea typeface="Arial" pitchFamily="34" charset="-122"/>
                <a:cs typeface="Arial" pitchFamily="34" charset="-120"/>
              </a:rPr>
              <a:t>NO PALANCA A · HOGARES</a:t>
            </a:r>
            <a:endParaRPr lang="en-US" sz="1200" dirty="0"/>
          </a:p>
        </p:txBody>
      </p:sp>
      <p:sp>
        <p:nvSpPr>
          <p:cNvPr id="6" name="Text 3"/>
          <p:cNvSpPr/>
          <p:nvPr/>
        </p:nvSpPr>
        <p:spPr>
          <a:xfrm>
            <a:off x="1066800" y="1920000"/>
            <a:ext cx="4787646" cy="1048941"/>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2A2A2A"/>
                </a:solidFill>
                <a:latin typeface="Arial" pitchFamily="34" charset="0"/>
                <a:ea typeface="Arial" pitchFamily="34" charset="-122"/>
                <a:cs typeface="Arial" pitchFamily="34" charset="-120"/>
              </a:rPr>
              <a:t>El 20% de hogares top concentra el 53% del gasto, y el </a:t>
            </a:r>
            <a:r>
              <a:rPr lang="en-US" sz="1300" b="1" dirty="0">
                <a:solidFill>
                  <a:srgbClr val="2A2A2A"/>
                </a:solidFill>
                <a:latin typeface="Arial" pitchFamily="34" charset="0"/>
                <a:ea typeface="Arial" pitchFamily="34" charset="-122"/>
                <a:cs typeface="Arial" pitchFamily="34" charset="-120"/>
              </a:rPr>
              <a:t>98% de ellos ya recibe campaña</a:t>
            </a:r>
            <a:r>
              <a:rPr lang="en-US" sz="1300" dirty="0">
                <a:solidFill>
                  <a:srgbClr val="2A2A2A"/>
                </a:solidFill>
                <a:latin typeface="Arial" pitchFamily="34" charset="0"/>
                <a:ea typeface="Arial" pitchFamily="34" charset="-122"/>
                <a:cs typeface="Arial" pitchFamily="34" charset="-120"/>
              </a:rPr>
              <a:t>. Enfocarse ahí no es una idea nueva: ya está pasando, y no corrige el sesgo que encontramos.</a:t>
            </a:r>
            <a:endParaRPr lang="en-US" sz="1300" dirty="0"/>
          </a:p>
        </p:txBody>
      </p:sp>
      <p:sp>
        <p:nvSpPr>
          <p:cNvPr id="7" name="Shape 4"/>
          <p:cNvSpPr/>
          <p:nvPr/>
        </p:nvSpPr>
        <p:spPr>
          <a:xfrm>
            <a:off x="6223000" y="1400000"/>
            <a:ext cx="5156200" cy="1580000"/>
          </a:xfrm>
          <a:prstGeom prst="roundRect">
            <a:avLst>
              <a:gd name="adj" fmla="val 6926"/>
            </a:avLst>
          </a:prstGeom>
          <a:solidFill>
            <a:srgbClr val="F6FAF7"/>
          </a:solidFill>
          <a:ln/>
        </p:spPr>
        <p:txBody>
          <a:bodyPr/>
          <a:lstStyle/>
          <a:p>
            <a:endParaRPr lang="es-GT"/>
          </a:p>
        </p:txBody>
      </p:sp>
      <p:sp>
        <p:nvSpPr>
          <p:cNvPr id="8" name="Text 5"/>
          <p:cNvSpPr/>
          <p:nvPr/>
        </p:nvSpPr>
        <p:spPr>
          <a:xfrm>
            <a:off x="6477000" y="1620000"/>
            <a:ext cx="4787646" cy="238720"/>
          </a:xfrm>
          <a:prstGeom prst="rect">
            <a:avLst/>
          </a:prstGeom>
          <a:noFill/>
          <a:ln/>
        </p:spPr>
        <p:txBody>
          <a:bodyPr wrap="square" lIns="0" tIns="0" rIns="0" bIns="0" rtlCol="0" anchor="t">
            <a:normAutofit/>
          </a:bodyPr>
          <a:lstStyle/>
          <a:p>
            <a:pPr marL="0" indent="0" algn="l">
              <a:lnSpc>
                <a:spcPts val="1680"/>
              </a:lnSpc>
              <a:buNone/>
            </a:pPr>
            <a:r>
              <a:rPr lang="en-US" sz="1200" b="1" kern="0" spc="25" dirty="0">
                <a:solidFill>
                  <a:srgbClr val="155C40"/>
                </a:solidFill>
                <a:latin typeface="Arial" pitchFamily="34" charset="0"/>
                <a:ea typeface="Arial" pitchFamily="34" charset="-122"/>
                <a:cs typeface="Arial" pitchFamily="34" charset="-120"/>
              </a:rPr>
              <a:t>NO PALANCA B · CATEGORÍAS</a:t>
            </a:r>
            <a:endParaRPr lang="en-US" sz="1200" dirty="0"/>
          </a:p>
        </p:txBody>
      </p:sp>
      <p:sp>
        <p:nvSpPr>
          <p:cNvPr id="9" name="Text 6"/>
          <p:cNvSpPr/>
          <p:nvPr/>
        </p:nvSpPr>
        <p:spPr>
          <a:xfrm>
            <a:off x="6477000" y="1920000"/>
            <a:ext cx="4787646" cy="793055"/>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2A2A2A"/>
                </a:solidFill>
                <a:latin typeface="Arial" pitchFamily="34" charset="0"/>
                <a:ea typeface="Arial" pitchFamily="34" charset="-122"/>
                <a:cs typeface="Arial" pitchFamily="34" charset="-120"/>
              </a:rPr>
              <a:t>GROCERY y KIOSK-GAS crecen, pero eso </a:t>
            </a:r>
            <a:r>
              <a:rPr lang="en-US" sz="1300" b="1" dirty="0">
                <a:solidFill>
                  <a:srgbClr val="2A2A2A"/>
                </a:solidFill>
                <a:latin typeface="Arial" pitchFamily="34" charset="0"/>
                <a:ea typeface="Arial" pitchFamily="34" charset="-122"/>
                <a:cs typeface="Arial" pitchFamily="34" charset="-120"/>
              </a:rPr>
              <a:t>informa</a:t>
            </a:r>
            <a:r>
              <a:rPr lang="en-US" sz="1300" dirty="0">
                <a:solidFill>
                  <a:srgbClr val="2A2A2A"/>
                </a:solidFill>
                <a:latin typeface="Arial" pitchFamily="34" charset="0"/>
                <a:ea typeface="Arial" pitchFamily="34" charset="-122"/>
                <a:cs typeface="Arial" pitchFamily="34" charset="-120"/>
              </a:rPr>
              <a:t> qué categorías priorizar dentro del piloto de campañas — no es una palanca independiente de la mecánica que ya elegimos.</a:t>
            </a:r>
            <a:endParaRPr lang="en-US" sz="1300" dirty="0"/>
          </a:p>
        </p:txBody>
      </p:sp>
      <p:sp>
        <p:nvSpPr>
          <p:cNvPr id="10" name="Shape 7"/>
          <p:cNvSpPr/>
          <p:nvPr/>
        </p:nvSpPr>
        <p:spPr>
          <a:xfrm>
            <a:off x="812800" y="3200000"/>
            <a:ext cx="10566400" cy="720000"/>
          </a:xfrm>
          <a:prstGeom prst="roundRect">
            <a:avLst>
              <a:gd name="adj" fmla="val 12500"/>
            </a:avLst>
          </a:prstGeom>
          <a:solidFill>
            <a:srgbClr val="155C40"/>
          </a:solidFill>
          <a:ln/>
        </p:spPr>
        <p:txBody>
          <a:bodyPr/>
          <a:lstStyle/>
          <a:p>
            <a:endParaRPr lang="es-GT"/>
          </a:p>
        </p:txBody>
      </p:sp>
      <p:sp>
        <p:nvSpPr>
          <p:cNvPr id="11" name="Text 8"/>
          <p:cNvSpPr/>
          <p:nvPr/>
        </p:nvSpPr>
        <p:spPr>
          <a:xfrm>
            <a:off x="1066800" y="3330000"/>
            <a:ext cx="10058400" cy="4826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FFFFFF"/>
                </a:solidFill>
                <a:latin typeface="Arial" pitchFamily="34" charset="0"/>
                <a:ea typeface="Arial" pitchFamily="34" charset="-122"/>
                <a:cs typeface="Arial" pitchFamily="34" charset="-120"/>
              </a:rPr>
              <a:t>Elegimos Mecánica (C)</a:t>
            </a:r>
            <a:r>
              <a:rPr lang="en-US" sz="1200" dirty="0">
                <a:solidFill>
                  <a:srgbClr val="FFFFFF"/>
                </a:solidFill>
                <a:latin typeface="Arial" pitchFamily="34" charset="0"/>
                <a:ea typeface="Arial" pitchFamily="34" charset="-122"/>
                <a:cs typeface="Arial" pitchFamily="34" charset="-120"/>
              </a:rPr>
              <a:t> porque ahí hay evidencia concreta y accionable: sesgo de selección en campañas + baja redención de cupones frente al costo del descuento genérico.</a:t>
            </a:r>
            <a:endParaRPr lang="en-US" sz="1200" dirty="0"/>
          </a:p>
        </p:txBody>
      </p:sp>
      <p:sp>
        <p:nvSpPr>
          <p:cNvPr id="12" name="Shape 9"/>
          <p:cNvSpPr/>
          <p:nvPr/>
        </p:nvSpPr>
        <p:spPr>
          <a:xfrm>
            <a:off x="0" y="6731000"/>
            <a:ext cx="12192000" cy="127000"/>
          </a:xfrm>
          <a:prstGeom prst="rect">
            <a:avLst/>
          </a:prstGeom>
          <a:solidFill>
            <a:srgbClr val="155C40"/>
          </a:solidFill>
          <a:ln/>
        </p:spPr>
        <p:txBody>
          <a:bodyPr/>
          <a:lstStyle/>
          <a:p>
            <a:endParaRPr lang="es-GT"/>
          </a:p>
        </p:txBody>
      </p:sp>
      <p:sp>
        <p:nvSpPr>
          <p:cNvPr id="20" name="Card 20"/>
          <p:cNvSpPr/>
          <p:nvPr/>
        </p:nvSpPr>
        <p:spPr>
          <a:xfrm>
            <a:off x="812800" y="4130000"/>
            <a:ext cx="3352800" cy="2200000"/>
          </a:xfrm>
          <a:prstGeom prst="roundRect">
            <a:avLst>
              <a:gd name="adj" fmla="val 6000"/>
            </a:avLst>
          </a:prstGeom>
          <a:solidFill>
            <a:srgbClr val="F6FAF7"/>
          </a:solidFill>
          <a:ln w="12700">
            <a:solidFill>
              <a:srgbClr val="D5E6DC"/>
            </a:solidFill>
          </a:ln>
        </p:spPr>
        <p:txBody>
          <a:bodyPr/>
          <a:lstStyle/>
          <a:p>
            <a:endParaRPr lang="es-GT"/>
          </a:p>
        </p:txBody>
      </p:sp>
      <p:sp>
        <p:nvSpPr>
          <p:cNvPr id="21" name="Label PORQUE"/>
          <p:cNvSpPr txBox="1"/>
          <p:nvPr/>
        </p:nvSpPr>
        <p:spPr>
          <a:xfrm>
            <a:off x="1041400" y="4330000"/>
            <a:ext cx="2895600" cy="230000"/>
          </a:xfrm>
          <a:prstGeom prst="rect">
            <a:avLst/>
          </a:prstGeom>
          <a:noFill/>
        </p:spPr>
        <p:txBody>
          <a:bodyPr wrap="square" lIns="0" tIns="0" rIns="0" bIns="0" rtlCol="0" anchor="t">
            <a:noAutofit/>
          </a:bodyPr>
          <a:lstStyle/>
          <a:p>
            <a:pPr marL="0" indent="0" algn="l">
              <a:lnSpc>
                <a:spcPts val="1500"/>
              </a:lnSpc>
              <a:buNone/>
            </a:pPr>
            <a:r>
              <a:rPr lang="es-ES" sz="1100" b="1" spc="50" dirty="0">
                <a:solidFill>
                  <a:srgbClr val="B8860B"/>
                </a:solidFill>
                <a:latin typeface="Arial" pitchFamily="34" charset="0"/>
                <a:ea typeface="Arial" pitchFamily="34" charset="-122"/>
                <a:cs typeface="Arial" pitchFamily="34" charset="-120"/>
              </a:rPr>
              <a:t>PORQUE</a:t>
            </a:r>
          </a:p>
        </p:txBody>
      </p:sp>
      <p:sp>
        <p:nvSpPr>
          <p:cNvPr id="22" name="Body PORQUE"/>
          <p:cNvSpPr txBox="1"/>
          <p:nvPr/>
        </p:nvSpPr>
        <p:spPr>
          <a:xfrm>
            <a:off x="1041400" y="4630000"/>
            <a:ext cx="2895600" cy="1600000"/>
          </a:xfrm>
          <a:prstGeom prst="rect">
            <a:avLst/>
          </a:prstGeom>
          <a:noFill/>
        </p:spPr>
        <p:txBody>
          <a:bodyPr wrap="square" lIns="0" tIns="0" rIns="0" bIns="0" rtlCol="0" anchor="t">
            <a:noAutofit/>
          </a:bodyPr>
          <a:lstStyle/>
          <a:p>
            <a:pPr marL="0" indent="0" algn="l">
              <a:lnSpc>
                <a:spcPts val="1950"/>
              </a:lnSpc>
              <a:buNone/>
            </a:pPr>
            <a:r>
              <a:rPr lang="es-ES" sz="1300" dirty="0">
                <a:solidFill>
                  <a:srgbClr val="2A2A2A"/>
                </a:solidFill>
                <a:latin typeface="Arial" pitchFamily="34" charset="0"/>
                <a:ea typeface="Arial" pitchFamily="34" charset="-122"/>
                <a:cs typeface="Arial" pitchFamily="34" charset="-120"/>
              </a:rPr>
              <a:t>Los hogares que hoy reciben campaña ya gastaban </a:t>
            </a:r>
            <a:r>
              <a:rPr lang="es-ES" sz="1300" b="1" dirty="0">
                <a:solidFill>
                  <a:srgbClr val="2A2A2A"/>
                </a:solidFill>
                <a:latin typeface="Arial" pitchFamily="34" charset="0"/>
                <a:ea typeface="Arial" pitchFamily="34" charset="-122"/>
                <a:cs typeface="Arial" pitchFamily="34" charset="-120"/>
              </a:rPr>
              <a:t>5 veces más</a:t>
            </a:r>
            <a:r>
              <a:rPr lang="es-ES" sz="1300" dirty="0">
                <a:solidFill>
                  <a:srgbClr val="2A2A2A"/>
                </a:solidFill>
                <a:latin typeface="Arial" pitchFamily="34" charset="0"/>
                <a:ea typeface="Arial" pitchFamily="34" charset="-122"/>
                <a:cs typeface="Arial" pitchFamily="34" charset="-120"/>
              </a:rPr>
              <a:t> que el resto, y solo el </a:t>
            </a:r>
            <a:r>
              <a:rPr lang="es-ES" sz="1300" b="1" dirty="0">
                <a:solidFill>
                  <a:srgbClr val="2A2A2A"/>
                </a:solidFill>
                <a:latin typeface="Arial" pitchFamily="34" charset="0"/>
                <a:ea typeface="Arial" pitchFamily="34" charset="-122"/>
                <a:cs typeface="Arial" pitchFamily="34" charset="-120"/>
              </a:rPr>
              <a:t>27%</a:t>
            </a:r>
            <a:r>
              <a:rPr lang="es-ES" sz="1300" dirty="0">
                <a:solidFill>
                  <a:srgbClr val="2A2A2A"/>
                </a:solidFill>
                <a:latin typeface="Arial" pitchFamily="34" charset="0"/>
                <a:ea typeface="Arial" pitchFamily="34" charset="-122"/>
                <a:cs typeface="Arial" pitchFamily="34" charset="-120"/>
              </a:rPr>
              <a:t> redimió algún cupón.</a:t>
            </a:r>
          </a:p>
        </p:txBody>
      </p:sp>
      <p:sp>
        <p:nvSpPr>
          <p:cNvPr id="23" name="Card 23"/>
          <p:cNvSpPr/>
          <p:nvPr/>
        </p:nvSpPr>
        <p:spPr>
          <a:xfrm>
            <a:off x="4419600" y="4130000"/>
            <a:ext cx="3352800" cy="2200000"/>
          </a:xfrm>
          <a:prstGeom prst="roundRect">
            <a:avLst>
              <a:gd name="adj" fmla="val 6000"/>
            </a:avLst>
          </a:prstGeom>
          <a:solidFill>
            <a:srgbClr val="F6FAF7"/>
          </a:solidFill>
          <a:ln w="12700">
            <a:solidFill>
              <a:srgbClr val="D5E6DC"/>
            </a:solidFill>
          </a:ln>
        </p:spPr>
        <p:txBody>
          <a:bodyPr/>
          <a:lstStyle/>
          <a:p>
            <a:endParaRPr lang="es-GT"/>
          </a:p>
        </p:txBody>
      </p:sp>
      <p:sp>
        <p:nvSpPr>
          <p:cNvPr id="24" name="Label ESPERAMOS"/>
          <p:cNvSpPr txBox="1"/>
          <p:nvPr/>
        </p:nvSpPr>
        <p:spPr>
          <a:xfrm>
            <a:off x="4648200" y="4330000"/>
            <a:ext cx="2895600" cy="230000"/>
          </a:xfrm>
          <a:prstGeom prst="rect">
            <a:avLst/>
          </a:prstGeom>
          <a:noFill/>
        </p:spPr>
        <p:txBody>
          <a:bodyPr wrap="square" lIns="0" tIns="0" rIns="0" bIns="0" rtlCol="0" anchor="t">
            <a:noAutofit/>
          </a:bodyPr>
          <a:lstStyle/>
          <a:p>
            <a:pPr marL="0" indent="0" algn="l">
              <a:lnSpc>
                <a:spcPts val="1500"/>
              </a:lnSpc>
              <a:buNone/>
            </a:pPr>
            <a:r>
              <a:rPr lang="es-ES" sz="1100" b="1" spc="50" dirty="0">
                <a:solidFill>
                  <a:srgbClr val="B8860B"/>
                </a:solidFill>
                <a:latin typeface="Arial" pitchFamily="34" charset="0"/>
                <a:ea typeface="Arial" pitchFamily="34" charset="-122"/>
                <a:cs typeface="Arial" pitchFamily="34" charset="-120"/>
              </a:rPr>
              <a:t>ESPERAMOS</a:t>
            </a:r>
          </a:p>
        </p:txBody>
      </p:sp>
      <p:sp>
        <p:nvSpPr>
          <p:cNvPr id="25" name="Body ESPERAMOS"/>
          <p:cNvSpPr txBox="1"/>
          <p:nvPr/>
        </p:nvSpPr>
        <p:spPr>
          <a:xfrm>
            <a:off x="4648200" y="4630000"/>
            <a:ext cx="2895600" cy="1600000"/>
          </a:xfrm>
          <a:prstGeom prst="rect">
            <a:avLst/>
          </a:prstGeom>
          <a:noFill/>
        </p:spPr>
        <p:txBody>
          <a:bodyPr wrap="square" lIns="0" tIns="0" rIns="0" bIns="0" rtlCol="0" anchor="t">
            <a:noAutofit/>
          </a:bodyPr>
          <a:lstStyle/>
          <a:p>
            <a:pPr marL="0" indent="0" algn="l">
              <a:lnSpc>
                <a:spcPts val="1950"/>
              </a:lnSpc>
              <a:buNone/>
            </a:pPr>
            <a:r>
              <a:rPr lang="es-ES" sz="1300" dirty="0">
                <a:solidFill>
                  <a:srgbClr val="2A2A2A"/>
                </a:solidFill>
                <a:latin typeface="Arial" pitchFamily="34" charset="0"/>
                <a:ea typeface="Arial" pitchFamily="34" charset="-122"/>
                <a:cs typeface="Arial" pitchFamily="34" charset="-120"/>
              </a:rPr>
              <a:t>Dejar de gastar en clientes que iban a comprar de todos modos, y medir por primera vez el efecto real de la campaña.</a:t>
            </a:r>
          </a:p>
        </p:txBody>
      </p:sp>
      <p:sp>
        <p:nvSpPr>
          <p:cNvPr id="26" name="Card 26"/>
          <p:cNvSpPr/>
          <p:nvPr/>
        </p:nvSpPr>
        <p:spPr>
          <a:xfrm>
            <a:off x="8026400" y="4130000"/>
            <a:ext cx="3352800" cy="2200000"/>
          </a:xfrm>
          <a:prstGeom prst="roundRect">
            <a:avLst>
              <a:gd name="adj" fmla="val 6000"/>
            </a:avLst>
          </a:prstGeom>
          <a:solidFill>
            <a:srgbClr val="F6FAF7"/>
          </a:solidFill>
          <a:ln w="12700">
            <a:solidFill>
              <a:srgbClr val="D5E6DC"/>
            </a:solidFill>
          </a:ln>
        </p:spPr>
        <p:txBody>
          <a:bodyPr/>
          <a:lstStyle/>
          <a:p>
            <a:endParaRPr lang="es-GT"/>
          </a:p>
        </p:txBody>
      </p:sp>
      <p:sp>
        <p:nvSpPr>
          <p:cNvPr id="27" name="Label RIESGO PRINCIPAL"/>
          <p:cNvSpPr txBox="1"/>
          <p:nvPr/>
        </p:nvSpPr>
        <p:spPr>
          <a:xfrm>
            <a:off x="8255000" y="4330000"/>
            <a:ext cx="2895600" cy="230000"/>
          </a:xfrm>
          <a:prstGeom prst="rect">
            <a:avLst/>
          </a:prstGeom>
          <a:noFill/>
        </p:spPr>
        <p:txBody>
          <a:bodyPr wrap="square" lIns="0" tIns="0" rIns="0" bIns="0" rtlCol="0" anchor="t">
            <a:noAutofit/>
          </a:bodyPr>
          <a:lstStyle/>
          <a:p>
            <a:pPr marL="0" indent="0" algn="l">
              <a:lnSpc>
                <a:spcPts val="1500"/>
              </a:lnSpc>
              <a:buNone/>
            </a:pPr>
            <a:r>
              <a:rPr lang="es-ES" sz="1100" b="1" spc="50" dirty="0">
                <a:solidFill>
                  <a:srgbClr val="B8860B"/>
                </a:solidFill>
                <a:latin typeface="Arial" pitchFamily="34" charset="0"/>
                <a:ea typeface="Arial" pitchFamily="34" charset="-122"/>
                <a:cs typeface="Arial" pitchFamily="34" charset="-120"/>
              </a:rPr>
              <a:t>RIESGO PRINCIPAL</a:t>
            </a:r>
          </a:p>
        </p:txBody>
      </p:sp>
      <p:sp>
        <p:nvSpPr>
          <p:cNvPr id="28" name="Body RIESGO PRINCIPAL"/>
          <p:cNvSpPr txBox="1"/>
          <p:nvPr/>
        </p:nvSpPr>
        <p:spPr>
          <a:xfrm>
            <a:off x="8255000" y="4630000"/>
            <a:ext cx="2895600" cy="1600000"/>
          </a:xfrm>
          <a:prstGeom prst="rect">
            <a:avLst/>
          </a:prstGeom>
          <a:noFill/>
        </p:spPr>
        <p:txBody>
          <a:bodyPr wrap="square" lIns="0" tIns="0" rIns="0" bIns="0" rtlCol="0" anchor="t">
            <a:noAutofit/>
          </a:bodyPr>
          <a:lstStyle/>
          <a:p>
            <a:pPr marL="0" indent="0" algn="l">
              <a:lnSpc>
                <a:spcPts val="1950"/>
              </a:lnSpc>
              <a:buNone/>
            </a:pPr>
            <a:r>
              <a:rPr lang="es-ES" sz="1300" dirty="0">
                <a:solidFill>
                  <a:srgbClr val="2A2A2A"/>
                </a:solidFill>
                <a:latin typeface="Arial" pitchFamily="34" charset="0"/>
                <a:ea typeface="Arial" pitchFamily="34" charset="-122"/>
                <a:cs typeface="Arial" pitchFamily="34" charset="-120"/>
              </a:rPr>
              <a:t>Que el piloto muestre poco efecto por el tamaño de muestra, o que congelar la expansión deje fuera a hogares que sí habrían respondido bien. El descuento en góndola (</a:t>
            </a:r>
            <a:r>
              <a:rPr lang="es-ES" sz="1300" b="1" dirty="0">
                <a:solidFill>
                  <a:srgbClr val="2A2A2A"/>
                </a:solidFill>
                <a:latin typeface="Arial" pitchFamily="34" charset="0"/>
                <a:ea typeface="Arial" pitchFamily="34" charset="-122"/>
                <a:cs typeface="Arial" pitchFamily="34" charset="-120"/>
              </a:rPr>
              <a:t>$1.4M</a:t>
            </a:r>
            <a:r>
              <a:rPr lang="es-ES" sz="1300" dirty="0">
                <a:solidFill>
                  <a:srgbClr val="2A2A2A"/>
                </a:solidFill>
                <a:latin typeface="Arial" pitchFamily="34" charset="0"/>
                <a:ea typeface="Arial" pitchFamily="34" charset="-122"/>
                <a:cs typeface="Arial" pitchFamily="34" charset="-120"/>
              </a:rPr>
              <a:t>) se mantiene igual mientras medimos.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Search"/>
          <p:cNvPicPr>
            <a:picLocks noChangeAspect="1"/>
          </p:cNvPicPr>
          <p:nvPr/>
        </p:nvPicPr>
        <p:blipFill>
          <a:blip r:embed="rId3"/>
          <a:srcRect/>
          <a:stretch/>
        </p:blipFill>
        <p:spPr>
          <a:xfrm>
            <a:off x="812800" y="1692176"/>
            <a:ext cx="279400" cy="279400"/>
          </a:xfrm>
          <a:prstGeom prst="rect">
            <a:avLst/>
          </a:prstGeom>
        </p:spPr>
      </p:pic>
      <p:sp>
        <p:nvSpPr>
          <p:cNvPr id="3" name="Text 0"/>
          <p:cNvSpPr/>
          <p:nvPr/>
        </p:nvSpPr>
        <p:spPr>
          <a:xfrm>
            <a:off x="1219200" y="1642070"/>
            <a:ext cx="4494448" cy="405110"/>
          </a:xfrm>
          <a:prstGeom prst="rect">
            <a:avLst/>
          </a:prstGeom>
          <a:noFill/>
          <a:ln/>
        </p:spPr>
        <p:txBody>
          <a:bodyPr wrap="square" lIns="0" tIns="0" rIns="0" bIns="0" rtlCol="0" anchor="t">
            <a:normAutofit/>
          </a:bodyPr>
          <a:lstStyle/>
          <a:p>
            <a:pPr marL="0" indent="0" algn="l">
              <a:lnSpc>
                <a:spcPts val="2990"/>
              </a:lnSpc>
              <a:buNone/>
            </a:pPr>
            <a:r>
              <a:rPr lang="en-US" sz="2600" dirty="0">
                <a:solidFill>
                  <a:srgbClr val="155C40"/>
                </a:solidFill>
                <a:latin typeface="Georgia" pitchFamily="34" charset="0"/>
                <a:ea typeface="Georgia" pitchFamily="34" charset="-122"/>
                <a:cs typeface="Georgia" pitchFamily="34" charset="-120"/>
              </a:rPr>
              <a:t>Lo que no pudimos responder</a:t>
            </a:r>
            <a:endParaRPr lang="en-US" sz="2600" dirty="0"/>
          </a:p>
        </p:txBody>
      </p:sp>
      <p:sp>
        <p:nvSpPr>
          <p:cNvPr id="4" name="Shape 1"/>
          <p:cNvSpPr/>
          <p:nvPr/>
        </p:nvSpPr>
        <p:spPr>
          <a:xfrm>
            <a:off x="812800" y="2250380"/>
            <a:ext cx="10566400" cy="920750"/>
          </a:xfrm>
          <a:prstGeom prst="roundRect">
            <a:avLst>
              <a:gd name="adj" fmla="val 11034"/>
            </a:avLst>
          </a:prstGeom>
          <a:solidFill>
            <a:srgbClr val="F6FAF7"/>
          </a:solidFill>
          <a:ln/>
        </p:spPr>
        <p:txBody>
          <a:bodyPr/>
          <a:lstStyle/>
          <a:p>
            <a:endParaRPr lang="es-GT"/>
          </a:p>
        </p:txBody>
      </p:sp>
      <p:sp>
        <p:nvSpPr>
          <p:cNvPr id="5" name="Text 2"/>
          <p:cNvSpPr/>
          <p:nvPr/>
        </p:nvSpPr>
        <p:spPr>
          <a:xfrm>
            <a:off x="1041400" y="2453580"/>
            <a:ext cx="13186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2B705"/>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300262" y="2453580"/>
            <a:ext cx="10145848" cy="539750"/>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1A1A1A"/>
                </a:solidFill>
                <a:latin typeface="Arial" pitchFamily="34" charset="0"/>
                <a:ea typeface="Arial" pitchFamily="34" charset="-122"/>
                <a:cs typeface="Arial" pitchFamily="34" charset="-120"/>
              </a:rPr>
              <a:t>¿La campaña realmente generó el gasto extra, o solo llegó a hogares que ya compraban mucho? Necesitaríamos un grupo de control de hogares similares sin campaña.</a:t>
            </a:r>
            <a:endParaRPr lang="en-US" sz="1350" dirty="0"/>
          </a:p>
        </p:txBody>
      </p:sp>
      <p:sp>
        <p:nvSpPr>
          <p:cNvPr id="7" name="Shape 4"/>
          <p:cNvSpPr/>
          <p:nvPr/>
        </p:nvSpPr>
        <p:spPr>
          <a:xfrm>
            <a:off x="812800" y="3323530"/>
            <a:ext cx="10566400" cy="920750"/>
          </a:xfrm>
          <a:prstGeom prst="roundRect">
            <a:avLst>
              <a:gd name="adj" fmla="val 11034"/>
            </a:avLst>
          </a:prstGeom>
          <a:solidFill>
            <a:srgbClr val="F6FAF7"/>
          </a:solidFill>
          <a:ln/>
        </p:spPr>
        <p:txBody>
          <a:bodyPr/>
          <a:lstStyle/>
          <a:p>
            <a:endParaRPr lang="es-GT"/>
          </a:p>
        </p:txBody>
      </p:sp>
      <p:sp>
        <p:nvSpPr>
          <p:cNvPr id="8" name="Text 5"/>
          <p:cNvSpPr/>
          <p:nvPr/>
        </p:nvSpPr>
        <p:spPr>
          <a:xfrm>
            <a:off x="1041400" y="3526730"/>
            <a:ext cx="13096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2B705"/>
                </a:solidFill>
                <a:latin typeface="Arial" pitchFamily="34" charset="0"/>
                <a:ea typeface="Arial" pitchFamily="34" charset="-122"/>
                <a:cs typeface="Arial" pitchFamily="34" charset="-120"/>
              </a:rPr>
              <a:t>2</a:t>
            </a:r>
            <a:endParaRPr lang="en-US" sz="1500" dirty="0"/>
          </a:p>
        </p:txBody>
      </p:sp>
      <p:sp>
        <p:nvSpPr>
          <p:cNvPr id="9" name="Text 6"/>
          <p:cNvSpPr/>
          <p:nvPr/>
        </p:nvSpPr>
        <p:spPr>
          <a:xfrm>
            <a:off x="1299369" y="3526730"/>
            <a:ext cx="10146768" cy="539750"/>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1A1A1A"/>
                </a:solidFill>
                <a:latin typeface="Arial" pitchFamily="34" charset="0"/>
                <a:ea typeface="Arial" pitchFamily="34" charset="-122"/>
                <a:cs typeface="Arial" pitchFamily="34" charset="-120"/>
              </a:rPr>
              <a:t>¿Qué pasaría con una nueva selección de hogares? Necesitaríamos correr un experimento con asignación aleatoria y medir el resultado antes de mover más presupuesto.</a:t>
            </a:r>
            <a:endParaRPr lang="en-US" sz="1350" dirty="0"/>
          </a:p>
        </p:txBody>
      </p:sp>
      <p:sp>
        <p:nvSpPr>
          <p:cNvPr id="10" name="Shape 7"/>
          <p:cNvSpPr/>
          <p:nvPr/>
        </p:nvSpPr>
        <p:spPr>
          <a:xfrm>
            <a:off x="812800" y="4396680"/>
            <a:ext cx="10566400" cy="920750"/>
          </a:xfrm>
          <a:prstGeom prst="roundRect">
            <a:avLst>
              <a:gd name="adj" fmla="val 11034"/>
            </a:avLst>
          </a:prstGeom>
          <a:solidFill>
            <a:srgbClr val="F6FAF7"/>
          </a:solidFill>
          <a:ln/>
        </p:spPr>
        <p:txBody>
          <a:bodyPr/>
          <a:lstStyle/>
          <a:p>
            <a:endParaRPr lang="es-GT"/>
          </a:p>
        </p:txBody>
      </p:sp>
      <p:sp>
        <p:nvSpPr>
          <p:cNvPr id="11" name="Text 8"/>
          <p:cNvSpPr/>
          <p:nvPr/>
        </p:nvSpPr>
        <p:spPr>
          <a:xfrm>
            <a:off x="1041400" y="4599880"/>
            <a:ext cx="11896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2B705"/>
                </a:solidFill>
                <a:latin typeface="Arial" pitchFamily="34" charset="0"/>
                <a:ea typeface="Arial" pitchFamily="34" charset="-122"/>
                <a:cs typeface="Arial" pitchFamily="34" charset="-120"/>
              </a:rPr>
              <a:t>3</a:t>
            </a:r>
            <a:endParaRPr lang="en-US" sz="1500" dirty="0"/>
          </a:p>
        </p:txBody>
      </p:sp>
      <p:sp>
        <p:nvSpPr>
          <p:cNvPr id="12" name="Text 9"/>
          <p:cNvSpPr/>
          <p:nvPr/>
        </p:nvSpPr>
        <p:spPr>
          <a:xfrm>
            <a:off x="1287363" y="4599880"/>
            <a:ext cx="10159134" cy="539750"/>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1A1A1A"/>
                </a:solidFill>
                <a:latin typeface="Arial" pitchFamily="34" charset="0"/>
                <a:ea typeface="Arial" pitchFamily="34" charset="-122"/>
                <a:cs typeface="Arial" pitchFamily="34" charset="-120"/>
              </a:rPr>
              <a:t>Cualquier conclusión por edad o ingreso solo cubre al 32% de los hogares con datos demográficos. Necesitaríamos una encuesta o registro que cubra al resto de la base para generalizar con confianza.</a:t>
            </a:r>
            <a:endParaRPr lang="en-US" sz="1350" dirty="0"/>
          </a:p>
        </p:txBody>
      </p:sp>
      <p:sp>
        <p:nvSpPr>
          <p:cNvPr id="13" name="Shape 10"/>
          <p:cNvSpPr/>
          <p:nvPr/>
        </p:nvSpPr>
        <p:spPr>
          <a:xfrm>
            <a:off x="0" y="6731000"/>
            <a:ext cx="12192000" cy="127000"/>
          </a:xfrm>
          <a:prstGeom prst="rect">
            <a:avLst/>
          </a:prstGeom>
          <a:solidFill>
            <a:srgbClr val="155C40"/>
          </a:solidFill>
          <a:ln/>
        </p:spPr>
        <p:txBody>
          <a:bodyPr/>
          <a:lstStyle/>
          <a:p>
            <a:endParaRPr lang="es-GT"/>
          </a:p>
        </p:txBody>
      </p:sp>
      <p:sp>
        <p:nvSpPr>
          <p:cNvPr id="14" name="Text 11"/>
          <p:cNvSpPr/>
          <p:nvPr/>
        </p:nvSpPr>
        <p:spPr>
          <a:xfrm>
            <a:off x="812800" y="6433840"/>
            <a:ext cx="4732256"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C6B62"/>
                </a:solidFill>
                <a:latin typeface="Arial" pitchFamily="34" charset="0"/>
                <a:ea typeface="Arial" pitchFamily="34" charset="-122"/>
                <a:cs typeface="Arial" pitchFamily="34" charset="-120"/>
              </a:rPr>
              <a:t>Proyecto 1 — Business Intelligence · The Complete Journey (dunnhumby)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950</Words>
  <Application>Microsoft Office PowerPoint</Application>
  <PresentationFormat>Panorámica</PresentationFormat>
  <Paragraphs>59</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1 BI — Recomendación de presupuesto</dc:title>
  <dc:subject>PptxGenJS Presentation</dc:subject>
  <dc:creator>PptxGenJS</dc:creator>
  <cp:lastModifiedBy>Cristina Pineda Carranza</cp:lastModifiedBy>
  <cp:revision>2</cp:revision>
  <dcterms:created xsi:type="dcterms:W3CDTF">2026-09-24T22:23:56Z</dcterms:created>
  <dcterms:modified xsi:type="dcterms:W3CDTF">2026-09-24T22:36:52Z</dcterms:modified>
</cp:coreProperties>
</file>